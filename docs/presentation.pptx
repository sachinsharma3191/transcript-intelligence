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9C46A"/>
                </a:solidFill>
                <a:latin typeface="IBM Plex Sans"/>
              </a:rPr>
              <a:t>TRANSCRIPT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FBFBF8"/>
                </a:solidFill>
                <a:latin typeface="Georgia"/>
              </a:rPr>
              <a:t>What 100 calls tell us about the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BFD8D5"/>
                </a:solidFill>
                <a:latin typeface="IBM Plex Sans"/>
              </a:rPr>
              <a:t>Findings from call transcripts, Feb 3 to Apr 28,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FD8D5"/>
                </a:solidFill>
                <a:latin typeface="IBM Plex Sans"/>
              </a:rPr>
              <a:t>27 support calls · 43 external calls · 30 internal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Customers turned negative after the outage, and churn signals followed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47472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10312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76F51"/>
                </a:solidFill>
                <a:latin typeface="IBM Plex Sans"/>
              </a:rPr>
              <a:t>61%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356616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A5568"/>
                </a:solidFill>
                <a:latin typeface="IBM Plex Sans"/>
              </a:rPr>
              <a:t>of external calls after March 10 contained a churn signal. Before the outage it was 27%.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828800"/>
            <a:ext cx="347472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9" y="210312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76F51"/>
                </a:solidFill>
                <a:latin typeface="IBM Plex Sans"/>
              </a:rPr>
              <a:t>4.25 → 3.42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356616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A5568"/>
                </a:solidFill>
                <a:latin typeface="IBM Plex Sans"/>
              </a:rPr>
              <a:t>Average external sentiment score, before and after the outage. The largest drop of any call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828800"/>
            <a:ext cx="347472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4213D"/>
                </a:solidFill>
                <a:latin typeface="IBM Plex Sans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56616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A5568"/>
                </a:solidFill>
                <a:latin typeface="IBM Plex Sans"/>
              </a:rPr>
              <a:t>of customer sentences on external calls are negative. Our own staff: 4%.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IBM Plex Sans"/>
              </a:rPr>
              <a:t>Source: outputs/sentiment_before_after_outage.csv, outputs/sentiment_by_side.csv, outputs/churn_early_warning.csv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Outage touches half of all calls; billing and compliance follow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1691640"/>
                <a:gridCol w="169164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BFBF8"/>
                          </a:solidFill>
                          <a:latin typeface="IBM Plex Sans"/>
                        </a:rPr>
                        <a:t>Theme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BFBF8"/>
                          </a:solidFill>
                          <a:latin typeface="IBM Plex Sans"/>
                        </a:rPr>
                        <a:t>Primary calls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BFBF8"/>
                          </a:solidFill>
                          <a:latin typeface="IBM Plex Sans"/>
                        </a:rPr>
                        <a:t>External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BFBF8"/>
                          </a:solidFill>
                          <a:latin typeface="IBM Plex Sans"/>
                        </a:rPr>
                        <a:t>Internal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BFBF8"/>
                          </a:solidFill>
                          <a:latin typeface="IBM Plex Sans"/>
                        </a:rPr>
                        <a:t>Support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Outage &amp; reliability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22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6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6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Billing &amp; renewals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19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14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0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5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Compliance &amp; audit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18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Product &amp; roadmap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11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2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8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Identity &amp; access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2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Backup &amp; recovery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7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2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Onboarding &amp; deployment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Competitive intelligence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1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0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Integrations &amp; API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14213D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IBM Plex Sans"/>
              </a:rPr>
              <a:t>Each call has one primary theme. Outage appears as primary or secondary in 48 of 100 calls. Source: outputs/theme_by_call_type.csv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Rules first, because a panel has to be able to audit them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What we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• Keyword taxonomy of nine themes, scored on title, summary and tags. A title hit counts three times.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• One primary theme per call, plus secondary themes, so an outage inside a renewal call is counted in both.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• Call type comes from attendee emails: any outside address makes the call external.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965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213D"/>
                </a:solidFill>
                <a:latin typeface="IBM Plex Sans"/>
              </a:rPr>
              <a:t>How much to trust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65176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• Clustering agrees only partly: TF-IDF with KMeans gives an adjusted Rand index of 0.25. The primary theme is a label, not ground truth.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• Meeting scores hold up: shipped sentiment scores correlate with VADER at r = 0.83.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• Sentence labels are rough: VADER agrees with them at kappa 0.11, so shares use the shipped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IBM Plex Sans"/>
              </a:rPr>
              <a:t>Code: src/categorize.py, src/sentiment.py. Full notes: README.md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Customers are the negative voice, not our own staff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Speaker side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Negative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Neutral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Positive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External calls: customer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20%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41%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39%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External calls: Aegis staff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4%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53%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43%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Support calls: customer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39%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52%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9%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Support calls: Aegis staff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8%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81%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11%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5303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A5568"/>
                </a:solidFill>
                <a:latin typeface="IBM Plex Sans"/>
              </a:rPr>
              <a:t>Support is the most negative channel: 23% of all sentences are negative, against 13% on external calls and 17% on internal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206240"/>
            <a:ext cx="5394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A5568"/>
                </a:solidFill>
                <a:latin typeface="IBM Plex Sans"/>
              </a:rPr>
              <a:t>Our staff stay mostly neutral: 53% of their external sentences are neutral, against 41% for customers. The spread is on the customer side, so customer sentiment is the better health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IBM Plex Sans"/>
              </a:rPr>
              <a:t>Source: outputs/sentiment_by_side.csv, outputs/sentiment_by_call_type.csv. Speaker side is inferred from attendee emails.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The outage moved external sentiment down the most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926080"/>
                <a:gridCol w="29260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Call type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Before March 10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After March 10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BFBF8"/>
                          </a:solidFill>
                          <a:latin typeface="IBM Plex Sans"/>
                        </a:rPr>
                        <a:t>Change</a:t>
                      </a:r>
                    </a:p>
                  </a:txBody>
                  <a:tcPr marL="91440" marR="91440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External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4.25 (15 calls)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3.42 (28 calls)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−0.83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Internal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3.80 (9 calls)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3.26 (21 calls)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−0.54</a:t>
                      </a:r>
                    </a:p>
                  </a:txBody>
                  <a:tcPr marL="91440" marR="91440">
                    <a:solidFill>
                      <a:srgbClr val="FB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Support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3.07 (10 calls)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2.86 (17 calls)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4213D"/>
                          </a:solidFill>
                          <a:latin typeface="IBM Plex Sans"/>
                        </a:rPr>
                        <a:t>−0.21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76F51"/>
                </a:solidFill>
                <a:latin typeface="IBM Plex Sans"/>
              </a:rPr>
              <a:t>68%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of external calls after the outage discuss outage topics. Before, 13%.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41605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E76F51"/>
                </a:solidFill>
                <a:latin typeface="IBM Plex Sans"/>
              </a:rPr>
              <a:t>17 of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512064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A5568"/>
                </a:solidFill>
                <a:latin typeface="IBM Plex Sans"/>
              </a:rPr>
              <a:t>post-outage external calls contain a churn signal. Before the outage: 4 of 15.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IBM Plex Sans"/>
              </a:rPr>
              <a:t>The before and after groups have different sizes, so read these as directional. Source: outputs/sentiment_before_after_outage.csv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Outage and integrations score lowest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478"/>
                </a:solidFill>
                <a:latin typeface="IBM Plex Sans"/>
              </a:rPr>
              <a:t>Mean meeting sentiment score by primary theme, on a 1 to 5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Integrations &amp;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920240"/>
            <a:ext cx="2852928" cy="31089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76288" y="1874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2.40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Outage &amp;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377440"/>
            <a:ext cx="2888589" cy="310896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11949" y="23317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2.43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Competitive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834640"/>
            <a:ext cx="3566160" cy="31089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27889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3.00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Identity &amp;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291840"/>
            <a:ext cx="3934663" cy="310896"/>
          </a:xfrm>
          <a:prstGeom prst="rect">
            <a:avLst/>
          </a:prstGeom>
          <a:solidFill>
            <a:srgbClr val="8A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8023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3.31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Backup &amp;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749039"/>
            <a:ext cx="4041648" cy="310896"/>
          </a:xfrm>
          <a:prstGeom prst="rect">
            <a:avLst/>
          </a:prstGeom>
          <a:solidFill>
            <a:srgbClr val="8A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37033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3.40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Billing &amp; renewals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206240"/>
            <a:ext cx="4279392" cy="310896"/>
          </a:xfrm>
          <a:prstGeom prst="rect">
            <a:avLst/>
          </a:prstGeom>
          <a:solidFill>
            <a:srgbClr val="8A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160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3.60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Product &amp; roadmap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4663440"/>
            <a:ext cx="4362602" cy="310896"/>
          </a:xfrm>
          <a:prstGeom prst="rect">
            <a:avLst/>
          </a:prstGeom>
          <a:solidFill>
            <a:srgbClr val="8AB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962" y="46177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3.67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Compliance &amp;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120640"/>
            <a:ext cx="5075834" cy="31089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9194" y="50749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4.27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321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4213D"/>
                </a:solidFill>
                <a:latin typeface="IBM Plex Sans"/>
              </a:rPr>
              <a:t>Onboarding &amp; deployment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5577840"/>
            <a:ext cx="5491886" cy="31089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246" y="5532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213D"/>
                </a:solidFill>
                <a:latin typeface="IBM Plex Sans"/>
              </a:rPr>
              <a:t>4.62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IBM Plex Sans"/>
              </a:rPr>
              <a:t>Source: outputs/sentiment_by_theme.csv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Four insights beyond the brief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  <a:latin typeface="IBM Plex Sans"/>
              </a:rPr>
              <a:t>Churn early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2860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24 accounts show churn signals, and 22 of them after the outage. Brightpath Commerce, Summit Trust and Cobalt Software each have three.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246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IBM Plex Sans"/>
              </a:rPr>
              <a:t>For: account managers and CS leads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  <a:latin typeface="IBM Plex Sans"/>
              </a:rPr>
              <a:t>Feature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Compliance has 13 feature-gap moments and billing has 8. Customers ask for proactive seat-overage alerts and for compliance report formats.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IBM Plex Sans"/>
              </a:rPr>
              <a:t>For: product managers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  <a:latin typeface="IBM Plex Sans"/>
              </a:rPr>
              <a:t>Competitor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52628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SentinelShield came up in 61.5% of calls in the outage week. Since then it has appeared in 0% to 33% of calls each week.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86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IBM Plex Sans"/>
              </a:rPr>
              <a:t>For: sales leadership and product marketing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  <a:latin typeface="IBM Plex Sans"/>
              </a:rPr>
              <a:t>Repeat support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2628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568"/>
                </a:solidFill>
                <a:latin typeface="IBM Plex Sans"/>
              </a:rPr>
              <a:t>Eight accounts have more than one support case. Silverline Brands has three, and its average sentiment is 2.9.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486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IBM Plex Sans"/>
              </a:rPr>
              <a:t>For: support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8"/>
                </a:solidFill>
                <a:latin typeface="IBM Plex Sans"/>
              </a:rPr>
              <a:t>Source: outputs/churn_early_warning.csv, feature_demand.csv, competitor_pressure_weekly.csv, support_repeat_accounts.csv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BFBF8"/>
                </a:solidFill>
                <a:latin typeface="Georgia"/>
              </a:rPr>
              <a:t>What I would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9C46A"/>
                </a:solidFill>
                <a:latin typeface="IBM Plex Sans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BFBF8"/>
                </a:solidFill>
                <a:latin typeface="IBM Plex Sans"/>
              </a:rPr>
              <a:t>Give account managers the churn list this week, starting with the 24 accounts that show churn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9C46A"/>
                </a:solidFill>
                <a:latin typeface="IBM Plex Sans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39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BFBF8"/>
                </a:solidFill>
                <a:latin typeface="IBM Plex Sans"/>
              </a:rPr>
              <a:t>Track external sentiment and outage mentions weekly by call type, so the next incident shows up in the data within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79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9C46A"/>
                </a:solidFill>
                <a:latin typeface="IBM Plex Sans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199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BFBF8"/>
                </a:solidFill>
                <a:latin typeface="IBM Plex Sans"/>
              </a:rPr>
              <a:t>Put proactive overage alerts and compliance report formats at the top of the roadmap, backed by the feature-gap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9C46A"/>
                </a:solidFill>
                <a:latin typeface="IBM Plex Sans"/>
              </a:rP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37759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BFBF8"/>
                </a:solidFill>
                <a:latin typeface="IBM Plex Sans"/>
              </a:rPr>
              <a:t>Link action items to the tracker, so follow-through after incidents can be measured. The dataset has no completion data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FD8D5"/>
                </a:solidFill>
                <a:latin typeface="IBM Plex Sans"/>
              </a:rPr>
              <a:t>Limits: 100 calls, call type and speaker side inferred from emails, no renewal or resolution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4213D"/>
                </a:solidFill>
                <a:latin typeface="Georgia"/>
              </a:rPr>
              <a:t>Architecture: one pipeline, two ways to reach it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596" y="1554480"/>
            <a:ext cx="7740502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